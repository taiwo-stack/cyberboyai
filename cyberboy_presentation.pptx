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 present CyberBoyAI, a production-grade multi-agent cybersecurity platform. We leverage overlapping layers of machine learning and sandboxed visual AI to protect fintech users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blacklists are always one step behind because hackers rotate fresh domains in minutes. CyberBoyAI operates on a zero-trust model: we don't just look up the link; we inspect its physical structure and live behavior.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split into a modern Next.js client and a containerized FastAPI backend. We query databases, extract ML features, and visit pages in a secure sandbox—all in parallel in under 3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route every threat through a 9-layer gauntlet. We decrypt QR codes, unmask redirect hops, check databases, run local ML, visit the page in a sandbox, and perform visual audits. No single bypass can slip through.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Scammers hide behind QR codes ('Qishing') and redirect shorteners like bit.ly. CyberBoyAI unmasks redirect hops recursively and uses computer vision to extract links from screenshots instantly.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algorithms are transparent and explainable. We use Shannon Entropy to spot random domains, Levenshtein edit distance to block brand typosquatting, and TF-IDF to encode text. These five math models guarantee our decisions are audit-ready.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trained our URL classifier on 300,000 Kaggle records mapping to four distinct threat classes. Our email NLP engine is trained on a custom-deduplicated corpus of SpamAssassin and Zenodo records. Both models utilize parallel CPU multiprocessing for maximum preprocessing speed.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URL classifier scans 20 core structural keys—ranging from character entropy to leet-speak substitutions. By using 200 decision trees capped at a depth of 15, we prevent training overfitting while maintaining high detection speed.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visit suspicious sites safely using a headless browser with JavaScript completely disabled. We extract the page structure and feed it to our visual AI agent, protected by dynamic UUID boundaries to prevent hackers from jailbreaking the 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Hackers abuse trusted platforms like Google Forms because standard security engines blindly whitelist Google. CyberBoyAI implements path-aware whitelisting, forcing a deep sandbox audit the moment a deep user form path is detected.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central Verdict Engine acts like a courtroom. It aggregates database, ML, AI, and behavioral inputs. If they disagree, the engine dynamically shifts weights, allowing visual proof of a phishing form to override a clean URL structure.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may see 98% ML Risk but only 50% Global Confidence. This is our consensus engine at work. A URL shortener looks suspicious structurally, but since it is a safe service, the engine resolves the stalemate by showing 'Suspicious' instead of blocking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scale CyberBoyAI to an enterprise level, we will integrate rotating residential proxies to defeat adversary blocking, implement monthly active learning loops to prevent model drift, and deploy CAPTCHA solvers to bypass security gates.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we have deployed a live, multi-agent threat sentry. It is fast, mathematically robust, and highly explainable. CyberBoyAI is fully online and ready to protect fintech users. Thank you, and I am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CyberBoyAI: Next-Gen Threat Detection &amp; Orchestration</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Status: Production-Ready (Vercel Frontend, Dockerized FastAPI Backend on Render)</a:t>
            </a:r>
          </a:p>
          <a:p>
            <a:pPr>
              <a:spcAft>
                <a:spcPts val="1200"/>
              </a:spcAft>
              <a:defRPr sz="2000">
                <a:solidFill>
                  <a:srgbClr val="F0F0F0"/>
                </a:solidFill>
                <a:latin typeface="Arial"/>
              </a:defRPr>
            </a:pPr>
            <a:r>
              <a:t>▪ Subtitle: A 9-Layer Multi-Agent Shield Combining ML, OSINT, and AI Sandboxed Forensics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The Core Problem: Why Blacklists Fail</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The Vulnerability of Static Defense</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Zero-Day Attacks: Hackers buy and register cheap domains minutes before an attack.</a:t>
            </a:r>
          </a:p>
          <a:p>
            <a:pPr>
              <a:spcAft>
                <a:spcPts val="1200"/>
              </a:spcAft>
              <a:defRPr sz="2000">
                <a:solidFill>
                  <a:srgbClr val="F0F0F0"/>
                </a:solidFill>
                <a:latin typeface="Arial"/>
              </a:defRPr>
            </a:pPr>
            <a:r>
              <a:t>▪ Database Delays: Global blacklists take hours or days to synchronize.</a:t>
            </a:r>
          </a:p>
          <a:p>
            <a:pPr>
              <a:spcAft>
                <a:spcPts val="1200"/>
              </a:spcAft>
              <a:defRPr sz="2000">
                <a:solidFill>
                  <a:srgbClr val="F0F0F0"/>
                </a:solidFill>
                <a:latin typeface="Arial"/>
              </a:defRPr>
            </a:pPr>
            <a:r>
              <a:t>▪ The CyberBoyAI Philosophy: Assume the database is always outdated. Analyze the live site's physical DNA and behavior instead.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Tech Stack &amp; Production Architecture</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Production-Grade High-Performance Stack</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Frontend UI: Next.js 14, TypeScript, Tailwind CSS (Live on Vercel).</a:t>
            </a:r>
          </a:p>
          <a:p>
            <a:pPr>
              <a:spcAft>
                <a:spcPts val="1200"/>
              </a:spcAft>
              <a:defRPr sz="2000">
                <a:solidFill>
                  <a:srgbClr val="F0F0F0"/>
                </a:solidFill>
                <a:latin typeface="Arial"/>
              </a:defRPr>
            </a:pPr>
            <a:r>
              <a:t>▪ API Backend: Dockerized FastAPI running asynchronous pipelines (Live on Render).</a:t>
            </a:r>
          </a:p>
          <a:p>
            <a:pPr>
              <a:spcAft>
                <a:spcPts val="1200"/>
              </a:spcAft>
              <a:defRPr sz="2000">
                <a:solidFill>
                  <a:srgbClr val="F0F0F0"/>
                </a:solidFill>
                <a:latin typeface="Arial"/>
              </a:defRPr>
            </a:pPr>
            <a:r>
              <a:t>▪ Data Tier: Supabase PostgreSQL for daily cron threat feeds and user cache.</a:t>
            </a:r>
          </a:p>
          <a:p>
            <a:pPr>
              <a:spcAft>
                <a:spcPts val="1200"/>
              </a:spcAft>
              <a:defRPr sz="2000">
                <a:solidFill>
                  <a:srgbClr val="F0F0F0"/>
                </a:solidFill>
                <a:latin typeface="Arial"/>
              </a:defRPr>
            </a:pPr>
            <a:r>
              <a:t>▪ ML Engine: Scikit-Learn (Random Forest multi-class URL classification models).</a:t>
            </a:r>
          </a:p>
          <a:p>
            <a:pPr>
              <a:spcAft>
                <a:spcPts val="1200"/>
              </a:spcAft>
              <a:defRPr sz="2000">
                <a:solidFill>
                  <a:srgbClr val="F0F0F0"/>
                </a:solidFill>
                <a:latin typeface="Arial"/>
              </a:defRPr>
            </a:pPr>
            <a:r>
              <a:t>▪ AI Sandbox: Playwright headless Chromium &amp; OpenAI visual DOM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High-Level View: 9-Layer Defense Pipeline</a:t>
            </a:r>
          </a:p>
        </p:txBody>
      </p:sp>
      <p:sp>
        <p:nvSpPr>
          <p:cNvPr id="3" name="TextBox 2"/>
          <p:cNvSpPr txBox="1"/>
          <p:nvPr/>
        </p:nvSpPr>
        <p:spPr>
          <a:xfrm>
            <a:off x="685800" y="1645920"/>
            <a:ext cx="5486400" cy="4572000"/>
          </a:xfrm>
          <a:prstGeom prst="rect">
            <a:avLst/>
          </a:prstGeom>
          <a:noFill/>
        </p:spPr>
        <p:txBody>
          <a:bodyPr wrap="square" lIns="0" tIns="0">
            <a:spAutoFit/>
          </a:bodyPr>
          <a:lstStyle/>
          <a:p>
            <a:pPr>
              <a:spcAft>
                <a:spcPts val="1400"/>
              </a:spcAft>
              <a:defRPr sz="2000" b="1">
                <a:solidFill>
                  <a:srgbClr val="E6AF2E"/>
                </a:solidFill>
                <a:latin typeface="Arial"/>
              </a:defRPr>
            </a:pPr>
            <a:r>
              <a:t>Key Focus: Defense-in-Depth Security</a:t>
            </a:r>
          </a:p>
          <a:p>
            <a:pPr>
              <a:spcAft>
                <a:spcPts val="1000"/>
              </a:spcAft>
              <a:defRPr sz="1800">
                <a:solidFill>
                  <a:srgbClr val="F0F0F0"/>
                </a:solidFill>
                <a:latin typeface="Arial"/>
              </a:defRPr>
            </a:pPr>
            <a:r>
              <a:t>▪ Points:</a:t>
            </a:r>
          </a:p>
          <a:p>
            <a:pPr>
              <a:spcAft>
                <a:spcPts val="1000"/>
              </a:spcAft>
              <a:defRPr sz="1800">
                <a:solidFill>
                  <a:srgbClr val="F0F0F0"/>
                </a:solidFill>
                <a:latin typeface="Arial"/>
              </a:defRPr>
            </a:pPr>
            <a:r>
              <a:t>▪ Layer 1-3 (Input Analysis): Vision OCR, QR Decoding, and Redirect Unshortening.</a:t>
            </a:r>
          </a:p>
          <a:p>
            <a:pPr>
              <a:spcAft>
                <a:spcPts val="1000"/>
              </a:spcAft>
              <a:defRPr sz="1800">
                <a:solidFill>
                  <a:srgbClr val="F0F0F0"/>
                </a:solidFill>
                <a:latin typeface="Arial"/>
              </a:defRPr>
            </a:pPr>
            <a:r>
              <a:t>▪ Layer 4-6 (Static Analysis): Fuzzy Brand Matching, OSINT Feeds, and URL Structural ML.</a:t>
            </a:r>
          </a:p>
          <a:p>
            <a:pPr>
              <a:spcAft>
                <a:spcPts val="1000"/>
              </a:spcAft>
              <a:defRPr sz="1800">
                <a:solidFill>
                  <a:srgbClr val="F0F0F0"/>
                </a:solidFill>
                <a:latin typeface="Arial"/>
              </a:defRPr>
            </a:pPr>
            <a:r>
              <a:t>▪ Layer 7-9 (Dynamic Analysis): Sandboxed Browser Scraping, OpenAI DOM Audit, and Path-Aware Whitelisting.</a:t>
            </a:r>
          </a:p>
        </p:txBody>
      </p:sp>
      <p:pic>
        <p:nvPicPr>
          <p:cNvPr id="4" name="Picture 3" descr="architectural_design.png"/>
          <p:cNvPicPr>
            <a:picLocks noChangeAspect="1"/>
          </p:cNvPicPr>
          <p:nvPr/>
        </p:nvPicPr>
        <p:blipFill>
          <a:blip r:embed="rId3"/>
          <a:stretch>
            <a:fillRect/>
          </a:stretch>
        </p:blipFill>
        <p:spPr>
          <a:xfrm>
            <a:off x="6400800" y="1645920"/>
            <a:ext cx="5029200" cy="43891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Layers 1 to 3: Multimodal Vision &amp; Redirect Tracking</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Defeating Entry-Level Obfuscation</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Vision OCR &amp; Qishing: GPT-4o-Vision scans screenshots and decodes visual QR codes.</a:t>
            </a:r>
          </a:p>
          <a:p>
            <a:pPr>
              <a:spcAft>
                <a:spcPts val="1200"/>
              </a:spcAft>
              <a:defRPr sz="2000">
                <a:solidFill>
                  <a:srgbClr val="F0F0F0"/>
                </a:solidFill>
                <a:latin typeface="Arial"/>
              </a:defRPr>
            </a:pPr>
            <a:r>
              <a:t>▪ Redirect Tracker: Recursively follows HTTP redirect chains (up to 10 hops) to unmask hidden endpoints.</a:t>
            </a:r>
          </a:p>
          <a:p>
            <a:pPr>
              <a:spcAft>
                <a:spcPts val="1200"/>
              </a:spcAft>
              <a:defRPr sz="2000">
                <a:solidFill>
                  <a:srgbClr val="F0F0F0"/>
                </a:solidFill>
                <a:latin typeface="Arial"/>
              </a:defRPr>
            </a:pPr>
            <a:r>
              <a:t>▪ Email Preprocessing: Extracts, decodes, and sanitizes plain-text MIME email payloads.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The Mathematical Engine: High-Level Algorithms</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Heuristics and Core Math Models</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Shannon Entropy: Measures domain randomness to detect auto-generated malicious domains.</a:t>
            </a:r>
          </a:p>
          <a:p>
            <a:pPr>
              <a:spcAft>
                <a:spcPts val="1200"/>
              </a:spcAft>
              <a:defRPr sz="2000">
                <a:solidFill>
                  <a:srgbClr val="F0F0F0"/>
                </a:solidFill>
                <a:latin typeface="Arial"/>
              </a:defRPr>
            </a:pPr>
            <a:r>
              <a:t>▪ Levenshtein Distance: Calculates string edits to detect visual homoglyphs and typosquatting (e.g. `netfl1x`).</a:t>
            </a:r>
          </a:p>
          <a:p>
            <a:pPr>
              <a:spcAft>
                <a:spcPts val="1200"/>
              </a:spcAft>
              <a:defRPr sz="2000">
                <a:solidFill>
                  <a:srgbClr val="F0F0F0"/>
                </a:solidFill>
                <a:latin typeface="Arial"/>
              </a:defRPr>
            </a:pPr>
            <a:r>
              <a:t>▪ TF-IDF Vectorization: Converts raw emails into numerical threat matrices for linguistic classification.</a:t>
            </a:r>
          </a:p>
          <a:p>
            <a:pPr>
              <a:spcAft>
                <a:spcPts val="1200"/>
              </a:spcAft>
              <a:defRPr sz="2000">
                <a:solidFill>
                  <a:srgbClr val="F0F0F0"/>
                </a:solidFill>
                <a:latin typeface="Arial"/>
              </a:defRPr>
            </a:pPr>
            <a:r>
              <a:t>▪ Gini Impurity: Optimizes machine learning splits during Random Forest training.</a:t>
            </a:r>
          </a:p>
          <a:p>
            <a:pPr>
              <a:spcAft>
                <a:spcPts val="1200"/>
              </a:spcAft>
              <a:defRPr sz="2000">
                <a:solidFill>
                  <a:srgbClr val="F0F0F0"/>
                </a:solidFill>
                <a:latin typeface="Arial"/>
              </a:defRPr>
            </a:pPr>
            <a:r>
              <a:t>▪ Consensus Fusion: Adjusts scoring weights dynamically when security agents disagree.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Training the ML Models: Datasets &amp; Specs</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Clean, High-Fidelity Training Pipelines</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URL DNA Model Dataset: Trained on the Kaggle `malicious-urls-dataset` (300k+ records).</a:t>
            </a:r>
          </a:p>
          <a:p>
            <a:pPr>
              <a:spcAft>
                <a:spcPts val="1200"/>
              </a:spcAft>
              <a:defRPr sz="2000">
                <a:solidFill>
                  <a:srgbClr val="F0F0F0"/>
                </a:solidFill>
                <a:latin typeface="Arial"/>
              </a:defRPr>
            </a:pPr>
            <a:r>
              <a:t>▪ Multi-Class URL Classifier: Classifies links into four categories: Benign, Phishing, Malware, or Defacement.</a:t>
            </a:r>
          </a:p>
          <a:p>
            <a:pPr>
              <a:spcAft>
                <a:spcPts val="1200"/>
              </a:spcAft>
              <a:defRPr sz="2000">
                <a:solidFill>
                  <a:srgbClr val="F0F0F0"/>
                </a:solidFill>
                <a:latin typeface="Arial"/>
              </a:defRPr>
            </a:pPr>
            <a:r>
              <a:t>▪ Email/SMS NLP Model Dataset: Unified deduplicated corpus combining Apache SpamAssassin and Zenodo datasets.</a:t>
            </a:r>
          </a:p>
          <a:p>
            <a:pPr>
              <a:spcAft>
                <a:spcPts val="1200"/>
              </a:spcAft>
              <a:defRPr sz="2000">
                <a:solidFill>
                  <a:srgbClr val="F0F0F0"/>
                </a:solidFill>
                <a:latin typeface="Arial"/>
              </a:defRPr>
            </a:pPr>
            <a:r>
              <a:t>▪ URL Preprocessing: Uses parallel CPU processing to chunk and extract features at extreme speed.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Random Forest URL Classifier Specifications</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URL Lexical and Technical DNA</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Model Configuration: Random Forest Classifier with 200 trees and a maximum depth limit of 15.</a:t>
            </a:r>
          </a:p>
          <a:p>
            <a:pPr>
              <a:spcAft>
                <a:spcPts val="1200"/>
              </a:spcAft>
              <a:defRPr sz="2000">
                <a:solidFill>
                  <a:srgbClr val="F0F0F0"/>
                </a:solidFill>
                <a:latin typeface="Arial"/>
              </a:defRPr>
            </a:pPr>
            <a:r>
              <a:t>▪ URL Features (20 Core Keys):</a:t>
            </a:r>
          </a:p>
          <a:p>
            <a:pPr>
              <a:spcAft>
                <a:spcPts val="1200"/>
              </a:spcAft>
              <a:defRPr sz="2000">
                <a:solidFill>
                  <a:srgbClr val="F0F0F0"/>
                </a:solidFill>
                <a:latin typeface="Arial"/>
              </a:defRPr>
            </a:pPr>
            <a:r>
              <a:t>▪ Lexical:* URL length, subdomain depth, path depth, hyphen counts, symbol entropy.</a:t>
            </a:r>
          </a:p>
          <a:p>
            <a:pPr>
              <a:spcAft>
                <a:spcPts val="1200"/>
              </a:spcAft>
              <a:defRPr sz="2000">
                <a:solidFill>
                  <a:srgbClr val="F0F0F0"/>
                </a:solidFill>
                <a:latin typeface="Arial"/>
              </a:defRPr>
            </a:pPr>
            <a:r>
              <a:t>▪ Technical:* HTTPS presence, TLD risk rating, leet-speak substitutions, non-standard 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Sandboxed Scraping &amp; AI Visual Forensics</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Safely Analyzing Live Threats</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Playwright Browser Sandbox: Spawns headless Chromium with JavaScript disabled to block drive-by malware.</a:t>
            </a:r>
          </a:p>
          <a:p>
            <a:pPr>
              <a:spcAft>
                <a:spcPts val="1200"/>
              </a:spcAft>
              <a:defRPr sz="2000">
                <a:solidFill>
                  <a:srgbClr val="F0F0F0"/>
                </a:solidFill>
                <a:latin typeface="Arial"/>
              </a:defRPr>
            </a:pPr>
            <a:r>
              <a:t>▪ OpenAI Visual DOM Scraper: GPT-4o-mini reviews parsed text structures for credential-harvesting patterns.</a:t>
            </a:r>
          </a:p>
          <a:p>
            <a:pPr>
              <a:spcAft>
                <a:spcPts val="1200"/>
              </a:spcAft>
              <a:defRPr sz="2000">
                <a:solidFill>
                  <a:srgbClr val="F0F0F0"/>
                </a:solidFill>
                <a:latin typeface="Arial"/>
              </a:defRPr>
            </a:pPr>
            <a:r>
              <a:t>▪ Jailbreak Defense: Wraps DOM text in randomized UUID boundary keys to fully isolate and neutralize hacker injection code.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Layer 9: Path-Aware Whitelisting (Cloud Abuse)</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Preventing Trusted Domain Exploits</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The Threat: Scammers host phishing forms on trusted cloud systems like Google Forms or Notion.</a:t>
            </a:r>
          </a:p>
          <a:p>
            <a:pPr>
              <a:spcAft>
                <a:spcPts val="1200"/>
              </a:spcAft>
              <a:defRPr sz="2000">
                <a:solidFill>
                  <a:srgbClr val="F0F0F0"/>
                </a:solidFill>
                <a:latin typeface="Arial"/>
              </a:defRPr>
            </a:pPr>
            <a:r>
              <a:t>▪ Standard Filters: Blindly trust the base domain and allow the attack.</a:t>
            </a:r>
          </a:p>
          <a:p>
            <a:pPr>
              <a:spcAft>
                <a:spcPts val="1200"/>
              </a:spcAft>
              <a:defRPr sz="2000">
                <a:solidFill>
                  <a:srgbClr val="F0F0F0"/>
                </a:solidFill>
                <a:latin typeface="Arial"/>
              </a:defRPr>
            </a:pPr>
            <a:r>
              <a:t>▪ CyberBoyAI Solution: Path-Aware Whitelisting. Fast-paths are blocked for deep paths (e.g. `docs.google.com/forms`), forcing a full sandbox visual audit.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The Verdict Engine: Consensus Conflict Resolution</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Intelligent Agent Score Aggregation</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Weighted Fused Score: Merges database feeds (35%), ML URL DNA (30%), visual AI audits (20%), and behaviors (15%).</a:t>
            </a:r>
          </a:p>
          <a:p>
            <a:pPr>
              <a:spcAft>
                <a:spcPts val="1200"/>
              </a:spcAft>
              <a:defRPr sz="2000">
                <a:solidFill>
                  <a:srgbClr val="F0F0F0"/>
                </a:solidFill>
                <a:latin typeface="Arial"/>
              </a:defRPr>
            </a:pPr>
            <a:r>
              <a:t>▪ Consensus Stalemate: Detects when agents disagree and dynamically shifts weights.</a:t>
            </a:r>
          </a:p>
          <a:p>
            <a:pPr>
              <a:spcAft>
                <a:spcPts val="1200"/>
              </a:spcAft>
              <a:defRPr sz="2000">
                <a:solidFill>
                  <a:srgbClr val="F0F0F0"/>
                </a:solidFill>
                <a:latin typeface="Arial"/>
              </a:defRPr>
            </a:pPr>
            <a:r>
              <a:t>▪ AI Visual Override: If ML says a domain is safe, but visual AI catches an active login form, weights shift instantly to boost the AI to 40% and override the 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Score Translation: Local ML vs. Global Confidence</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Demystifying Conflicting Dashboard Scores</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Local ML Risk (The Physics): Probability that the URL string matches the physical structure of a typical phishing link.</a:t>
            </a:r>
          </a:p>
          <a:p>
            <a:pPr>
              <a:spcAft>
                <a:spcPts val="1200"/>
              </a:spcAft>
              <a:defRPr sz="2000">
                <a:solidFill>
                  <a:srgbClr val="F0F0F0"/>
                </a:solidFill>
                <a:latin typeface="Arial"/>
              </a:defRPr>
            </a:pPr>
            <a:r>
              <a:t>▪ Global Confidence (The Consensus): System-wide confidence that the final consolidated verdict is correct.</a:t>
            </a:r>
          </a:p>
          <a:p>
            <a:pPr>
              <a:spcAft>
                <a:spcPts val="1200"/>
              </a:spcAft>
              <a:defRPr sz="2000">
                <a:solidFill>
                  <a:srgbClr val="F0F0F0"/>
                </a:solidFill>
                <a:latin typeface="Arial"/>
              </a:defRPr>
            </a:pPr>
            <a:r>
              <a:t>▪ Reducing False Positives: Safe URL shorteners (like `bit.ly`) score high ML Risk (random structure) but low Global Threat, resulting in a balanced "Suspicious (50% Confidence)" verdict.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Future Work: Enterprise Scaling Roadmap</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Scaling to Enterprise Market Needs</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Rotating Residential Proxies: Bypasses attacker IP blocklists by routing scrapers through home residential internet connections.</a:t>
            </a:r>
          </a:p>
          <a:p>
            <a:pPr>
              <a:spcAft>
                <a:spcPts val="1200"/>
              </a:spcAft>
              <a:defRPr sz="2000">
                <a:solidFill>
                  <a:srgbClr val="F0F0F0"/>
                </a:solidFill>
                <a:latin typeface="Arial"/>
              </a:defRPr>
            </a:pPr>
            <a:r>
              <a:t>▪ Active Learning Loops: Automates monthly ML model retraining using live community threat feedback reports.</a:t>
            </a:r>
          </a:p>
          <a:p>
            <a:pPr>
              <a:spcAft>
                <a:spcPts val="1200"/>
              </a:spcAft>
              <a:defRPr sz="2000">
                <a:solidFill>
                  <a:srgbClr val="F0F0F0"/>
                </a:solidFill>
                <a:latin typeface="Arial"/>
              </a:defRPr>
            </a:pPr>
            <a:r>
              <a:t>▪ CAPTCHA Solvers: Integrates automated visual solvers to scan malicious pages hidden behind Cloudflare verification gates.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92F"/>
        </a:solidFill>
        <a:effectLst/>
      </p:bgPr>
    </p:bg>
    <p:spTree>
      <p:nvGrpSpPr>
        <p:cNvPr id="1" name=""/>
        <p:cNvGrpSpPr/>
        <p:nvPr/>
      </p:nvGrpSpPr>
      <p:grpSpPr/>
      <p:sp>
        <p:nvSpPr>
          <p:cNvPr id="2" name="TextBox 1"/>
          <p:cNvSpPr txBox="1"/>
          <p:nvPr/>
        </p:nvSpPr>
        <p:spPr>
          <a:xfrm>
            <a:off x="685800" y="457200"/>
            <a:ext cx="10817352" cy="914400"/>
          </a:xfrm>
          <a:prstGeom prst="rect">
            <a:avLst/>
          </a:prstGeom>
          <a:noFill/>
        </p:spPr>
        <p:txBody>
          <a:bodyPr wrap="square" lIns="0" tIns="0">
            <a:spAutoFit/>
          </a:bodyPr>
          <a:lstStyle/>
          <a:p>
            <a:pPr>
              <a:defRPr sz="3600" b="1">
                <a:solidFill>
                  <a:srgbClr val="00D4FF"/>
                </a:solidFill>
                <a:latin typeface="Arial"/>
              </a:defRPr>
            </a:pPr>
            <a:r>
              <a:t>Summary of Core Achievements</a:t>
            </a:r>
          </a:p>
        </p:txBody>
      </p:sp>
      <p:sp>
        <p:nvSpPr>
          <p:cNvPr id="3" name="TextBox 2"/>
          <p:cNvSpPr txBox="1"/>
          <p:nvPr/>
        </p:nvSpPr>
        <p:spPr>
          <a:xfrm>
            <a:off x="685800" y="1645920"/>
            <a:ext cx="10817352" cy="4572000"/>
          </a:xfrm>
          <a:prstGeom prst="rect">
            <a:avLst/>
          </a:prstGeom>
          <a:noFill/>
        </p:spPr>
        <p:txBody>
          <a:bodyPr wrap="square" lIns="0" tIns="0">
            <a:spAutoFit/>
          </a:bodyPr>
          <a:lstStyle/>
          <a:p>
            <a:pPr>
              <a:spcAft>
                <a:spcPts val="1800"/>
              </a:spcAft>
              <a:defRPr sz="2200" b="1">
                <a:solidFill>
                  <a:srgbClr val="E6AF2E"/>
                </a:solidFill>
                <a:latin typeface="Arial"/>
              </a:defRPr>
            </a:pPr>
            <a:r>
              <a:t>Key Focus: Live, Operational Cybersecurity Platform</a:t>
            </a:r>
          </a:p>
          <a:p>
            <a:pPr>
              <a:spcAft>
                <a:spcPts val="1200"/>
              </a:spcAft>
              <a:defRPr sz="2000">
                <a:solidFill>
                  <a:srgbClr val="F0F0F0"/>
                </a:solidFill>
                <a:latin typeface="Arial"/>
              </a:defRPr>
            </a:pPr>
            <a:r>
              <a:t>▪ Points:</a:t>
            </a:r>
          </a:p>
          <a:p>
            <a:pPr>
              <a:spcAft>
                <a:spcPts val="1200"/>
              </a:spcAft>
              <a:defRPr sz="2000">
                <a:solidFill>
                  <a:srgbClr val="F0F0F0"/>
                </a:solidFill>
                <a:latin typeface="Arial"/>
              </a:defRPr>
            </a:pPr>
            <a:r>
              <a:t>▪ Live End-to-End Production: Dockerized FastAPI on Render, React dashboard on Vercel, Supabase Cloud tier.</a:t>
            </a:r>
          </a:p>
          <a:p>
            <a:pPr>
              <a:spcAft>
                <a:spcPts val="1200"/>
              </a:spcAft>
              <a:defRPr sz="2000">
                <a:solidFill>
                  <a:srgbClr val="F0F0F0"/>
                </a:solidFill>
                <a:latin typeface="Arial"/>
              </a:defRPr>
            </a:pPr>
            <a:r>
              <a:t>▪ 9-Layer Security Pipeline: Complete OSINT, Random Forest ML, and Sandboxed AI forensics.</a:t>
            </a:r>
          </a:p>
          <a:p>
            <a:pPr>
              <a:spcAft>
                <a:spcPts val="1200"/>
              </a:spcAft>
              <a:defRPr sz="2000">
                <a:solidFill>
                  <a:srgbClr val="F0F0F0"/>
                </a:solidFill>
                <a:latin typeface="Arial"/>
              </a:defRPr>
            </a:pPr>
            <a:r>
              <a:t>▪ Zero-Day Guard: Visual OCR extraction, redirect unmasking, and active jailbreak boundaries.</a:t>
            </a:r>
          </a:p>
          <a:p>
            <a:pPr>
              <a:spcAft>
                <a:spcPts val="1200"/>
              </a:spcAft>
              <a:defRPr sz="2000">
                <a:solidFill>
                  <a:srgbClr val="F0F0F0"/>
                </a:solidFill>
                <a:latin typeface="Arial"/>
              </a:defRPr>
            </a:pPr>
            <a:r>
              <a:t>▪ High-Speed Caching: 10-minute API cache for instant history retrieval and optimized frontend load speeds.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